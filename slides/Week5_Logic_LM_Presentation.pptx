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 will introduce Week 5 as a task focused on understanding how LLMs can be connected with a logical reasoning engine. My implementation is a simplified version of the Logic-LM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motivation. The main problem is that LLMs can sound logical without actually being logically faithful. Symbolic solvers give deterministic, reproducible inference once the problem has been formalized.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paper. Logic-LM has an LLM formulation step, a symbolic solver step, an interpretation step, and a self-refinement stage if the logic fails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implementation slide. The major difference is that my test cases already include the Prolog query, so I am not fully reproducing the LLM translation stage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my testing results. I ran seven tests and all passed. The tests covered direct facts, rule-based reasoning, unsupported claims, and one deliberately malformed query to show solver error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what I checked in the repository. The code confirmed the same high-level architecture: logic generation, solver inference, and self-refinement based on solver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main point is that I built a smaller version of the Logic-LM pipeline. It demonstrates symbolic inference and solver feedback, while leaving full LLM-to-logic generation as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58368" y="594360"/>
            <a:ext cx="1417320" cy="329184"/>
          </a:xfrm>
          <a:prstGeom prst="rect">
            <a:avLst/>
          </a:prstGeom>
          <a:noFill/>
          <a:ln/>
        </p:spPr>
        <p:txBody>
          <a:bodyPr wrap="square" lIns="0" tIns="0" rIns="0" bIns="0" rtlCol="0" anchor="ctr"/>
          <a:lstStyle/>
          <a:p>
            <a:pPr indent="0" marL="0">
              <a:buNone/>
            </a:pPr>
            <a:r>
              <a:rPr lang="en-US" sz="1600" b="1" dirty="0">
                <a:solidFill>
                  <a:srgbClr val="34D399"/>
                </a:solidFill>
              </a:rPr>
              <a:t>Week 5</a:t>
            </a:r>
            <a:endParaRPr lang="en-US" sz="1600" dirty="0"/>
          </a:p>
        </p:txBody>
      </p:sp>
      <p:sp>
        <p:nvSpPr>
          <p:cNvPr id="3" name="Text 1"/>
          <p:cNvSpPr/>
          <p:nvPr/>
        </p:nvSpPr>
        <p:spPr>
          <a:xfrm>
            <a:off x="640080" y="1078992"/>
            <a:ext cx="6217920" cy="1417320"/>
          </a:xfrm>
          <a:prstGeom prst="rect">
            <a:avLst/>
          </a:prstGeom>
          <a:noFill/>
          <a:ln/>
        </p:spPr>
        <p:txBody>
          <a:bodyPr wrap="square" lIns="0" tIns="0" rIns="0" bIns="0" rtlCol="0" anchor="ctr">
            <a:normAutofit/>
          </a:bodyPr>
          <a:lstStyle/>
          <a:p>
            <a:pPr indent="0" marL="0">
              <a:buNone/>
            </a:pPr>
            <a:r>
              <a:rPr lang="en-US" sz="4300" b="1" dirty="0">
                <a:solidFill>
                  <a:srgbClr val="E5E7EB"/>
                </a:solidFill>
                <a:latin typeface="Aptos Display" pitchFamily="34" charset="0"/>
                <a:ea typeface="Aptos Display" pitchFamily="34" charset="-122"/>
                <a:cs typeface="Aptos Display" pitchFamily="34" charset="-120"/>
              </a:rPr>
              <a:t>Understanding</a:t>
            </a:r>
            <a:endParaRPr lang="en-US" sz="4300" dirty="0"/>
          </a:p>
          <a:p>
            <a:pPr indent="0" marL="0">
              <a:buNone/>
            </a:pPr>
            <a:r>
              <a:rPr lang="en-US" sz="4300" b="1" dirty="0">
                <a:solidFill>
                  <a:srgbClr val="E5E7EB"/>
                </a:solidFill>
                <a:latin typeface="Aptos Display" pitchFamily="34" charset="0"/>
                <a:ea typeface="Aptos Display" pitchFamily="34" charset="-122"/>
                <a:cs typeface="Aptos Display" pitchFamily="34" charset="-120"/>
              </a:rPr>
              <a:t>Logical Reasoning</a:t>
            </a:r>
            <a:endParaRPr lang="en-US" sz="4300" dirty="0"/>
          </a:p>
        </p:txBody>
      </p:sp>
      <p:sp>
        <p:nvSpPr>
          <p:cNvPr id="4" name="Text 2"/>
          <p:cNvSpPr/>
          <p:nvPr/>
        </p:nvSpPr>
        <p:spPr>
          <a:xfrm>
            <a:off x="685800" y="2788920"/>
            <a:ext cx="6675120" cy="585216"/>
          </a:xfrm>
          <a:prstGeom prst="rect">
            <a:avLst/>
          </a:prstGeom>
          <a:noFill/>
          <a:ln/>
        </p:spPr>
        <p:txBody>
          <a:bodyPr wrap="square" lIns="0" tIns="0" rIns="0" bIns="0" rtlCol="0" anchor="ctr">
            <a:normAutofit/>
          </a:bodyPr>
          <a:lstStyle/>
          <a:p>
            <a:pPr indent="0" marL="0">
              <a:buNone/>
            </a:pPr>
            <a:r>
              <a:rPr lang="en-US" sz="1900" dirty="0">
                <a:solidFill>
                  <a:srgbClr val="A7B0C0"/>
                </a:solidFill>
              </a:rPr>
              <a:t>A simplified Logic-LM-style pipeline using Python, SWI-Prolog, and a reusable knowledge base.</a:t>
            </a:r>
            <a:endParaRPr lang="en-US" sz="1900" dirty="0"/>
          </a:p>
        </p:txBody>
      </p:sp>
      <p:sp>
        <p:nvSpPr>
          <p:cNvPr id="5" name="Shape 3"/>
          <p:cNvSpPr/>
          <p:nvPr/>
        </p:nvSpPr>
        <p:spPr>
          <a:xfrm>
            <a:off x="7909560" y="1847088"/>
            <a:ext cx="1737360" cy="0"/>
          </a:xfrm>
          <a:prstGeom prst="line">
            <a:avLst/>
          </a:prstGeom>
          <a:noFill/>
          <a:ln w="27940">
            <a:solidFill>
              <a:srgbClr val="38BDF8"/>
            </a:solidFill>
            <a:prstDash val="solid"/>
            <a:headEnd type="none"/>
            <a:tailEnd type="triangle"/>
          </a:ln>
        </p:spPr>
      </p:sp>
      <p:sp>
        <p:nvSpPr>
          <p:cNvPr id="6" name="Shape 4"/>
          <p:cNvSpPr/>
          <p:nvPr/>
        </p:nvSpPr>
        <p:spPr>
          <a:xfrm>
            <a:off x="9646920" y="2971800"/>
            <a:ext cx="-1737360" cy="0"/>
          </a:xfrm>
          <a:prstGeom prst="line">
            <a:avLst/>
          </a:prstGeom>
          <a:noFill/>
          <a:ln w="27940">
            <a:solidFill>
              <a:srgbClr val="34D399"/>
            </a:solidFill>
            <a:prstDash val="solid"/>
            <a:headEnd type="none"/>
            <a:tailEnd type="triangle"/>
          </a:ln>
        </p:spPr>
      </p:sp>
      <p:sp>
        <p:nvSpPr>
          <p:cNvPr id="7" name="Text 5"/>
          <p:cNvSpPr/>
          <p:nvPr/>
        </p:nvSpPr>
        <p:spPr>
          <a:xfrm>
            <a:off x="7726680" y="1234440"/>
            <a:ext cx="1325880" cy="914400"/>
          </a:xfrm>
          <a:prstGeom prst="roundRect">
            <a:avLst/>
          </a:prstGeom>
          <a:solidFill>
            <a:srgbClr val="172033"/>
          </a:solidFill>
          <a:ln w="15240">
            <a:solidFill>
              <a:srgbClr val="38BDF8"/>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LLM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language → logic</a:t>
            </a:r>
            <a:endParaRPr lang="en-US" sz="1500" dirty="0"/>
          </a:p>
        </p:txBody>
      </p:sp>
      <p:sp>
        <p:nvSpPr>
          <p:cNvPr id="8" name="Text 6"/>
          <p:cNvSpPr/>
          <p:nvPr/>
        </p:nvSpPr>
        <p:spPr>
          <a:xfrm>
            <a:off x="10012680" y="1234440"/>
            <a:ext cx="1508760" cy="914400"/>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Solver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logic → answer</a:t>
            </a:r>
            <a:endParaRPr lang="en-US" sz="1500" dirty="0"/>
          </a:p>
        </p:txBody>
      </p:sp>
      <p:sp>
        <p:nvSpPr>
          <p:cNvPr id="9" name="Text 7"/>
          <p:cNvSpPr/>
          <p:nvPr/>
        </p:nvSpPr>
        <p:spPr>
          <a:xfrm>
            <a:off x="8412480" y="2743200"/>
            <a:ext cx="1965960" cy="914400"/>
          </a:xfrm>
          <a:prstGeom prst="roundRect">
            <a:avLst/>
          </a:prstGeom>
          <a:solidFill>
            <a:srgbClr val="172033"/>
          </a:solidFill>
          <a:ln w="15240">
            <a:solidFill>
              <a:srgbClr val="FBBF24"/>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Feedback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errors guide revision</a:t>
            </a:r>
            <a:endParaRPr lang="en-US" sz="1500" dirty="0"/>
          </a:p>
        </p:txBody>
      </p:sp>
      <p:sp>
        <p:nvSpPr>
          <p:cNvPr id="10" name="Text 8"/>
          <p:cNvSpPr/>
          <p:nvPr/>
        </p:nvSpPr>
        <p:spPr>
          <a:xfrm>
            <a:off x="685800" y="6035040"/>
            <a:ext cx="4023360" cy="219456"/>
          </a:xfrm>
          <a:prstGeom prst="rect">
            <a:avLst/>
          </a:prstGeom>
          <a:noFill/>
          <a:ln/>
        </p:spPr>
        <p:txBody>
          <a:bodyPr wrap="square" lIns="0" tIns="0" rIns="0" bIns="0" rtlCol="0" anchor="ctr"/>
          <a:lstStyle/>
          <a:p>
            <a:pPr indent="0" marL="0">
              <a:buNone/>
            </a:pPr>
            <a:r>
              <a:rPr lang="en-US" sz="1250" dirty="0">
                <a:solidFill>
                  <a:srgbClr val="6B7280"/>
                </a:solidFill>
              </a:rPr>
              <a:t>Irfan Shaik · AIEA Lab Internship</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94360" y="365760"/>
            <a:ext cx="8595360" cy="438912"/>
          </a:xfrm>
          <a:prstGeom prst="rect">
            <a:avLst/>
          </a:prstGeom>
          <a:noFill/>
          <a:ln/>
        </p:spPr>
        <p:txBody>
          <a:bodyPr wrap="square" lIns="0" tIns="0" rIns="0" bIns="0" rtlCol="0" anchor="ctr"/>
          <a:lstStyle/>
          <a:p>
            <a:pPr indent="0" marL="0">
              <a:buNone/>
            </a:pPr>
            <a:r>
              <a:rPr lang="en-US" sz="3000" b="1" dirty="0">
                <a:solidFill>
                  <a:srgbClr val="E5E7EB"/>
                </a:solidFill>
                <a:latin typeface="Aptos Display" pitchFamily="34" charset="0"/>
                <a:ea typeface="Aptos Display" pitchFamily="34" charset="-122"/>
                <a:cs typeface="Aptos Display" pitchFamily="34" charset="-120"/>
              </a:rPr>
              <a:t>Why combine LLMs with symbolic reasoning?</a:t>
            </a:r>
            <a:endParaRPr lang="en-US" sz="3000" dirty="0"/>
          </a:p>
        </p:txBody>
      </p:sp>
      <p:sp>
        <p:nvSpPr>
          <p:cNvPr id="3" name="Text 1"/>
          <p:cNvSpPr/>
          <p:nvPr/>
        </p:nvSpPr>
        <p:spPr>
          <a:xfrm>
            <a:off x="621792" y="859536"/>
            <a:ext cx="9601200" cy="246888"/>
          </a:xfrm>
          <a:prstGeom prst="rect">
            <a:avLst/>
          </a:prstGeom>
          <a:noFill/>
          <a:ln/>
        </p:spPr>
        <p:txBody>
          <a:bodyPr wrap="square" lIns="0" tIns="0" rIns="0" bIns="0" rtlCol="0" anchor="ctr"/>
          <a:lstStyle/>
          <a:p>
            <a:pPr indent="0" marL="0">
              <a:buNone/>
            </a:pPr>
            <a:r>
              <a:rPr lang="en-US" sz="1350" dirty="0">
                <a:solidFill>
                  <a:srgbClr val="A7B0C0"/>
                </a:solidFill>
                <a:latin typeface="Aptos" pitchFamily="34" charset="0"/>
                <a:ea typeface="Aptos" pitchFamily="34" charset="-122"/>
                <a:cs typeface="Aptos" pitchFamily="34" charset="-120"/>
              </a:rPr>
              <a:t>LLMs are flexible with language, but not guaranteed to make valid logical inferences.</a:t>
            </a:r>
            <a:endParaRPr lang="en-US" sz="1350" dirty="0"/>
          </a:p>
        </p:txBody>
      </p:sp>
      <p:sp>
        <p:nvSpPr>
          <p:cNvPr id="4" name="Shape 2"/>
          <p:cNvSpPr/>
          <p:nvPr/>
        </p:nvSpPr>
        <p:spPr>
          <a:xfrm>
            <a:off x="594360" y="1216152"/>
            <a:ext cx="10972800" cy="0"/>
          </a:xfrm>
          <a:prstGeom prst="line">
            <a:avLst/>
          </a:prstGeom>
          <a:noFill/>
          <a:ln w="12700">
            <a:solidFill>
              <a:srgbClr val="334155"/>
            </a:solidFill>
            <a:prstDash val="solid"/>
          </a:ln>
        </p:spPr>
      </p:sp>
      <p:sp>
        <p:nvSpPr>
          <p:cNvPr id="5" name="Text 3"/>
          <p:cNvSpPr/>
          <p:nvPr/>
        </p:nvSpPr>
        <p:spPr>
          <a:xfrm>
            <a:off x="731520" y="1828800"/>
            <a:ext cx="2880360" cy="1920240"/>
          </a:xfrm>
          <a:prstGeom prst="roundRect">
            <a:avLst/>
          </a:prstGeom>
          <a:solidFill>
            <a:srgbClr val="172033"/>
          </a:solidFill>
          <a:ln w="15240">
            <a:solidFill>
              <a:srgbClr val="38BDF8"/>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LLM strengths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Understands messy natural language</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Generates explanations</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Adapts across tasks</a:t>
            </a:r>
            <a:endParaRPr lang="en-US" sz="1500" dirty="0"/>
          </a:p>
        </p:txBody>
      </p:sp>
      <p:sp>
        <p:nvSpPr>
          <p:cNvPr id="6" name="Text 4"/>
          <p:cNvSpPr/>
          <p:nvPr/>
        </p:nvSpPr>
        <p:spPr>
          <a:xfrm>
            <a:off x="4617720" y="1828800"/>
            <a:ext cx="2880360" cy="1920240"/>
          </a:xfrm>
          <a:prstGeom prst="roundRect">
            <a:avLst/>
          </a:prstGeom>
          <a:solidFill>
            <a:srgbClr val="172033"/>
          </a:solidFill>
          <a:ln w="15240">
            <a:solidFill>
              <a:srgbClr val="F87171"/>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LLM weakness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Can produce plausible chains of thought where the conclusion does not actually follow.</a:t>
            </a:r>
            <a:endParaRPr lang="en-US" sz="1500" dirty="0"/>
          </a:p>
        </p:txBody>
      </p:sp>
      <p:sp>
        <p:nvSpPr>
          <p:cNvPr id="7" name="Text 5"/>
          <p:cNvSpPr/>
          <p:nvPr/>
        </p:nvSpPr>
        <p:spPr>
          <a:xfrm>
            <a:off x="8503920" y="1828800"/>
            <a:ext cx="2880360" cy="1920240"/>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Symbolic solver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Runs exact inference over explicit facts, rules, and constraints.</a:t>
            </a:r>
            <a:endParaRPr lang="en-US" sz="1500" dirty="0"/>
          </a:p>
        </p:txBody>
      </p:sp>
      <p:sp>
        <p:nvSpPr>
          <p:cNvPr id="8" name="Shape 6"/>
          <p:cNvSpPr/>
          <p:nvPr/>
        </p:nvSpPr>
        <p:spPr>
          <a:xfrm>
            <a:off x="3703320" y="2788920"/>
            <a:ext cx="640080" cy="0"/>
          </a:xfrm>
          <a:prstGeom prst="line">
            <a:avLst/>
          </a:prstGeom>
          <a:noFill/>
          <a:ln w="27940">
            <a:solidFill>
              <a:srgbClr val="334155"/>
            </a:solidFill>
            <a:prstDash val="solid"/>
            <a:headEnd type="none"/>
            <a:tailEnd type="triangle"/>
          </a:ln>
        </p:spPr>
      </p:sp>
      <p:sp>
        <p:nvSpPr>
          <p:cNvPr id="9" name="Shape 7"/>
          <p:cNvSpPr/>
          <p:nvPr/>
        </p:nvSpPr>
        <p:spPr>
          <a:xfrm>
            <a:off x="7589520" y="2788920"/>
            <a:ext cx="640080" cy="0"/>
          </a:xfrm>
          <a:prstGeom prst="line">
            <a:avLst/>
          </a:prstGeom>
          <a:noFill/>
          <a:ln w="27940">
            <a:solidFill>
              <a:srgbClr val="334155"/>
            </a:solidFill>
            <a:prstDash val="solid"/>
            <a:headEnd type="none"/>
            <a:tailEnd type="triangle"/>
          </a:ln>
        </p:spPr>
      </p:sp>
      <p:sp>
        <p:nvSpPr>
          <p:cNvPr id="10" name="Text 8"/>
          <p:cNvSpPr/>
          <p:nvPr/>
        </p:nvSpPr>
        <p:spPr>
          <a:xfrm>
            <a:off x="758952" y="4434840"/>
            <a:ext cx="1554480" cy="274320"/>
          </a:xfrm>
          <a:prstGeom prst="rect">
            <a:avLst/>
          </a:prstGeom>
          <a:noFill/>
          <a:ln/>
        </p:spPr>
        <p:txBody>
          <a:bodyPr wrap="square" lIns="0" tIns="0" rIns="0" bIns="0" rtlCol="0" anchor="ctr"/>
          <a:lstStyle/>
          <a:p>
            <a:pPr indent="0" marL="0">
              <a:buNone/>
            </a:pPr>
            <a:r>
              <a:rPr lang="en-US" sz="1500" b="1" dirty="0">
                <a:solidFill>
                  <a:srgbClr val="FBBF24"/>
                </a:solidFill>
              </a:rPr>
              <a:t>Core idea</a:t>
            </a:r>
            <a:endParaRPr lang="en-US" sz="1500" dirty="0"/>
          </a:p>
        </p:txBody>
      </p:sp>
      <p:sp>
        <p:nvSpPr>
          <p:cNvPr id="11" name="Text 9"/>
          <p:cNvSpPr/>
          <p:nvPr/>
        </p:nvSpPr>
        <p:spPr>
          <a:xfrm>
            <a:off x="758952" y="4864608"/>
            <a:ext cx="9784080" cy="411480"/>
          </a:xfrm>
          <a:prstGeom prst="rect">
            <a:avLst/>
          </a:prstGeom>
          <a:noFill/>
          <a:ln/>
        </p:spPr>
        <p:txBody>
          <a:bodyPr wrap="square" lIns="0" tIns="0" rIns="0" bIns="0" rtlCol="0" anchor="ctr">
            <a:normAutofit/>
          </a:bodyPr>
          <a:lstStyle/>
          <a:p>
            <a:pPr indent="0" marL="0">
              <a:buNone/>
            </a:pPr>
            <a:r>
              <a:rPr lang="en-US" sz="2400" b="1" dirty="0">
                <a:solidFill>
                  <a:srgbClr val="E5E7EB"/>
                </a:solidFill>
              </a:rPr>
              <a:t>Let the LLM handle interpretation, then let the solver handle the reasoning step.</a:t>
            </a:r>
            <a:endParaRPr lang="en-US" sz="2400" dirty="0"/>
          </a:p>
        </p:txBody>
      </p:sp>
      <p:sp>
        <p:nvSpPr>
          <p:cNvPr id="12" name="Text 10"/>
          <p:cNvSpPr/>
          <p:nvPr/>
        </p:nvSpPr>
        <p:spPr>
          <a:xfrm>
            <a:off x="548640" y="6473952"/>
            <a:ext cx="45720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AIEA Lab Internship · Week 5</a:t>
            </a:r>
            <a:endParaRPr lang="en-US" sz="750" dirty="0"/>
          </a:p>
        </p:txBody>
      </p:sp>
      <p:sp>
        <p:nvSpPr>
          <p:cNvPr id="13" name="Text 11"/>
          <p:cNvSpPr/>
          <p:nvPr/>
        </p:nvSpPr>
        <p:spPr>
          <a:xfrm>
            <a:off x="11475720"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94360" y="365760"/>
            <a:ext cx="8595360" cy="438912"/>
          </a:xfrm>
          <a:prstGeom prst="rect">
            <a:avLst/>
          </a:prstGeom>
          <a:noFill/>
          <a:ln/>
        </p:spPr>
        <p:txBody>
          <a:bodyPr wrap="square" lIns="0" tIns="0" rIns="0" bIns="0" rtlCol="0" anchor="ctr"/>
          <a:lstStyle/>
          <a:p>
            <a:pPr indent="0" marL="0">
              <a:buNone/>
            </a:pPr>
            <a:r>
              <a:rPr lang="en-US" sz="3000" b="1" dirty="0">
                <a:solidFill>
                  <a:srgbClr val="E5E7EB"/>
                </a:solidFill>
                <a:latin typeface="Aptos Display" pitchFamily="34" charset="0"/>
                <a:ea typeface="Aptos Display" pitchFamily="34" charset="-122"/>
                <a:cs typeface="Aptos Display" pitchFamily="34" charset="-120"/>
              </a:rPr>
              <a:t>Paper summary: Logic-LM</a:t>
            </a:r>
            <a:endParaRPr lang="en-US" sz="3000" dirty="0"/>
          </a:p>
        </p:txBody>
      </p:sp>
      <p:sp>
        <p:nvSpPr>
          <p:cNvPr id="3" name="Text 1"/>
          <p:cNvSpPr/>
          <p:nvPr/>
        </p:nvSpPr>
        <p:spPr>
          <a:xfrm>
            <a:off x="621792" y="859536"/>
            <a:ext cx="9601200" cy="246888"/>
          </a:xfrm>
          <a:prstGeom prst="rect">
            <a:avLst/>
          </a:prstGeom>
          <a:noFill/>
          <a:ln/>
        </p:spPr>
        <p:txBody>
          <a:bodyPr wrap="square" lIns="0" tIns="0" rIns="0" bIns="0" rtlCol="0" anchor="ctr"/>
          <a:lstStyle/>
          <a:p>
            <a:pPr indent="0" marL="0">
              <a:buNone/>
            </a:pPr>
            <a:r>
              <a:rPr lang="en-US" sz="1350" dirty="0">
                <a:solidFill>
                  <a:srgbClr val="A7B0C0"/>
                </a:solidFill>
                <a:latin typeface="Aptos" pitchFamily="34" charset="0"/>
                <a:ea typeface="Aptos" pitchFamily="34" charset="-122"/>
                <a:cs typeface="Aptos" pitchFamily="34" charset="-120"/>
              </a:rPr>
              <a:t>A framework that translates reasoning problems into symbolic programs and solves them with deterministic tools.</a:t>
            </a:r>
            <a:endParaRPr lang="en-US" sz="1350" dirty="0"/>
          </a:p>
        </p:txBody>
      </p:sp>
      <p:sp>
        <p:nvSpPr>
          <p:cNvPr id="4" name="Shape 2"/>
          <p:cNvSpPr/>
          <p:nvPr/>
        </p:nvSpPr>
        <p:spPr>
          <a:xfrm>
            <a:off x="594360" y="1216152"/>
            <a:ext cx="10972800" cy="0"/>
          </a:xfrm>
          <a:prstGeom prst="line">
            <a:avLst/>
          </a:prstGeom>
          <a:noFill/>
          <a:ln w="12700">
            <a:solidFill>
              <a:srgbClr val="334155"/>
            </a:solidFill>
            <a:prstDash val="solid"/>
          </a:ln>
        </p:spPr>
      </p:sp>
      <p:sp>
        <p:nvSpPr>
          <p:cNvPr id="5" name="Shape 3"/>
          <p:cNvSpPr/>
          <p:nvPr/>
        </p:nvSpPr>
        <p:spPr>
          <a:xfrm>
            <a:off x="2514600" y="2788920"/>
            <a:ext cx="1143000" cy="0"/>
          </a:xfrm>
          <a:prstGeom prst="line">
            <a:avLst/>
          </a:prstGeom>
          <a:noFill/>
          <a:ln w="27940">
            <a:solidFill>
              <a:srgbClr val="38BDF8"/>
            </a:solidFill>
            <a:prstDash val="solid"/>
            <a:headEnd type="none"/>
            <a:tailEnd type="triangle"/>
          </a:ln>
        </p:spPr>
      </p:sp>
      <p:sp>
        <p:nvSpPr>
          <p:cNvPr id="6" name="Shape 4"/>
          <p:cNvSpPr/>
          <p:nvPr/>
        </p:nvSpPr>
        <p:spPr>
          <a:xfrm>
            <a:off x="5303520" y="2788920"/>
            <a:ext cx="1143000" cy="0"/>
          </a:xfrm>
          <a:prstGeom prst="line">
            <a:avLst/>
          </a:prstGeom>
          <a:noFill/>
          <a:ln w="27940">
            <a:solidFill>
              <a:srgbClr val="34D399"/>
            </a:solidFill>
            <a:prstDash val="solid"/>
            <a:headEnd type="none"/>
            <a:tailEnd type="triangle"/>
          </a:ln>
        </p:spPr>
      </p:sp>
      <p:sp>
        <p:nvSpPr>
          <p:cNvPr id="7" name="Shape 5"/>
          <p:cNvSpPr/>
          <p:nvPr/>
        </p:nvSpPr>
        <p:spPr>
          <a:xfrm>
            <a:off x="8092440" y="2788920"/>
            <a:ext cx="1097280" cy="0"/>
          </a:xfrm>
          <a:prstGeom prst="line">
            <a:avLst/>
          </a:prstGeom>
          <a:noFill/>
          <a:ln w="27940">
            <a:solidFill>
              <a:srgbClr val="A78BFA"/>
            </a:solidFill>
            <a:prstDash val="solid"/>
            <a:headEnd type="none"/>
            <a:tailEnd type="triangle"/>
          </a:ln>
        </p:spPr>
      </p:sp>
      <p:sp>
        <p:nvSpPr>
          <p:cNvPr id="8" name="Shape 6"/>
          <p:cNvSpPr/>
          <p:nvPr/>
        </p:nvSpPr>
        <p:spPr>
          <a:xfrm>
            <a:off x="4160520" y="3703320"/>
            <a:ext cx="3429000" cy="658368"/>
          </a:xfrm>
          <a:prstGeom prst="arc">
            <a:avLst/>
          </a:prstGeom>
          <a:noFill/>
          <a:ln w="22860">
            <a:solidFill>
              <a:srgbClr val="FBBF24"/>
            </a:solidFill>
            <a:prstDash val="solid"/>
            <a:headEnd type="none"/>
            <a:tailEnd type="triangle"/>
          </a:ln>
        </p:spPr>
      </p:sp>
      <p:sp>
        <p:nvSpPr>
          <p:cNvPr id="9" name="Text 7"/>
          <p:cNvSpPr/>
          <p:nvPr/>
        </p:nvSpPr>
        <p:spPr>
          <a:xfrm>
            <a:off x="685800" y="2148840"/>
            <a:ext cx="2423160" cy="1261872"/>
          </a:xfrm>
          <a:prstGeom prst="roundRect">
            <a:avLst/>
          </a:prstGeom>
          <a:solidFill>
            <a:srgbClr val="172033"/>
          </a:solidFill>
          <a:ln w="15240">
            <a:solidFill>
              <a:srgbClr val="38BDF8"/>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1. Formulate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LLM converts a problem into formal logic.</a:t>
            </a:r>
            <a:endParaRPr lang="en-US" sz="1500" dirty="0"/>
          </a:p>
        </p:txBody>
      </p:sp>
      <p:sp>
        <p:nvSpPr>
          <p:cNvPr id="10" name="Text 8"/>
          <p:cNvSpPr/>
          <p:nvPr/>
        </p:nvSpPr>
        <p:spPr>
          <a:xfrm>
            <a:off x="3703320" y="2148840"/>
            <a:ext cx="2423160" cy="1261872"/>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2. Solve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Symbolic solver performs inference.</a:t>
            </a:r>
            <a:endParaRPr lang="en-US" sz="1500" dirty="0"/>
          </a:p>
        </p:txBody>
      </p:sp>
      <p:sp>
        <p:nvSpPr>
          <p:cNvPr id="11" name="Text 9"/>
          <p:cNvSpPr/>
          <p:nvPr/>
        </p:nvSpPr>
        <p:spPr>
          <a:xfrm>
            <a:off x="6720840" y="2148840"/>
            <a:ext cx="2423160" cy="1261872"/>
          </a:xfrm>
          <a:prstGeom prst="roundRect">
            <a:avLst/>
          </a:prstGeom>
          <a:solidFill>
            <a:srgbClr val="172033"/>
          </a:solidFill>
          <a:ln w="15240">
            <a:solidFill>
              <a:srgbClr val="A78BFA"/>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3. Interpret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Solver output becomes the final answer.</a:t>
            </a:r>
            <a:endParaRPr lang="en-US" sz="1500" dirty="0"/>
          </a:p>
        </p:txBody>
      </p:sp>
      <p:sp>
        <p:nvSpPr>
          <p:cNvPr id="12" name="Text 10"/>
          <p:cNvSpPr/>
          <p:nvPr/>
        </p:nvSpPr>
        <p:spPr>
          <a:xfrm>
            <a:off x="9372600" y="2148840"/>
            <a:ext cx="2148840" cy="1261872"/>
          </a:xfrm>
          <a:prstGeom prst="roundRect">
            <a:avLst/>
          </a:prstGeom>
          <a:solidFill>
            <a:srgbClr val="172033"/>
          </a:solidFill>
          <a:ln w="15240">
            <a:solidFill>
              <a:srgbClr val="FBBF24"/>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4. Refine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If logic fails, solver feedback can repair the program.</a:t>
            </a:r>
            <a:endParaRPr lang="en-US" sz="1500" dirty="0"/>
          </a:p>
        </p:txBody>
      </p:sp>
      <p:sp>
        <p:nvSpPr>
          <p:cNvPr id="13" name="Text 11"/>
          <p:cNvSpPr/>
          <p:nvPr/>
        </p:nvSpPr>
        <p:spPr>
          <a:xfrm>
            <a:off x="777240" y="5138928"/>
            <a:ext cx="10241280" cy="320040"/>
          </a:xfrm>
          <a:prstGeom prst="rect">
            <a:avLst/>
          </a:prstGeom>
          <a:noFill/>
          <a:ln/>
        </p:spPr>
        <p:txBody>
          <a:bodyPr wrap="square" lIns="0" tIns="0" rIns="0" bIns="0" rtlCol="0" anchor="ctr">
            <a:normAutofit/>
          </a:bodyPr>
          <a:lstStyle/>
          <a:p>
            <a:pPr indent="0" marL="0">
              <a:buNone/>
            </a:pPr>
            <a:r>
              <a:rPr lang="en-US" sz="1650" dirty="0">
                <a:solidFill>
                  <a:srgbClr val="E5E7EB"/>
                </a:solidFill>
              </a:rPr>
              <a:t>Datasets used in paper: ProofWriter, PrOntoQA, FOLIO, LogicalDeduction, AR-LSAT</a:t>
            </a:r>
            <a:endParaRPr lang="en-US" sz="1650" dirty="0"/>
          </a:p>
        </p:txBody>
      </p:sp>
      <p:sp>
        <p:nvSpPr>
          <p:cNvPr id="14" name="Text 12"/>
          <p:cNvSpPr/>
          <p:nvPr/>
        </p:nvSpPr>
        <p:spPr>
          <a:xfrm>
            <a:off x="777240" y="5559552"/>
            <a:ext cx="7772400" cy="228600"/>
          </a:xfrm>
          <a:prstGeom prst="rect">
            <a:avLst/>
          </a:prstGeom>
          <a:noFill/>
          <a:ln/>
        </p:spPr>
        <p:txBody>
          <a:bodyPr wrap="square" lIns="0" tIns="0" rIns="0" bIns="0" rtlCol="0" anchor="ctr"/>
          <a:lstStyle/>
          <a:p>
            <a:pPr indent="0" marL="0">
              <a:buNone/>
            </a:pPr>
            <a:r>
              <a:rPr lang="en-US" sz="1100" dirty="0">
                <a:solidFill>
                  <a:srgbClr val="6B7280"/>
                </a:solidFill>
              </a:rPr>
              <a:t>Reference: Pan et al., “Logic-LM,” Findings of EMNLP 2023</a:t>
            </a:r>
            <a:endParaRPr lang="en-US" sz="1100" dirty="0"/>
          </a:p>
        </p:txBody>
      </p:sp>
      <p:sp>
        <p:nvSpPr>
          <p:cNvPr id="15" name="Text 13"/>
          <p:cNvSpPr/>
          <p:nvPr/>
        </p:nvSpPr>
        <p:spPr>
          <a:xfrm>
            <a:off x="548640" y="6473952"/>
            <a:ext cx="45720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AIEA Lab Internship · Week 5</a:t>
            </a:r>
            <a:endParaRPr lang="en-US" sz="750" dirty="0"/>
          </a:p>
        </p:txBody>
      </p:sp>
      <p:sp>
        <p:nvSpPr>
          <p:cNvPr id="16" name="Text 14"/>
          <p:cNvSpPr/>
          <p:nvPr/>
        </p:nvSpPr>
        <p:spPr>
          <a:xfrm>
            <a:off x="11475720"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94360" y="365760"/>
            <a:ext cx="8595360" cy="438912"/>
          </a:xfrm>
          <a:prstGeom prst="rect">
            <a:avLst/>
          </a:prstGeom>
          <a:noFill/>
          <a:ln/>
        </p:spPr>
        <p:txBody>
          <a:bodyPr wrap="square" lIns="0" tIns="0" rIns="0" bIns="0" rtlCol="0" anchor="ctr"/>
          <a:lstStyle/>
          <a:p>
            <a:pPr indent="0" marL="0">
              <a:buNone/>
            </a:pPr>
            <a:r>
              <a:rPr lang="en-US" sz="3000" b="1" dirty="0">
                <a:solidFill>
                  <a:srgbClr val="E5E7EB"/>
                </a:solidFill>
                <a:latin typeface="Aptos Display" pitchFamily="34" charset="0"/>
                <a:ea typeface="Aptos Display" pitchFamily="34" charset="-122"/>
                <a:cs typeface="Aptos Display" pitchFamily="34" charset="-120"/>
              </a:rPr>
              <a:t>My simplified reimplementation</a:t>
            </a:r>
            <a:endParaRPr lang="en-US" sz="3000" dirty="0"/>
          </a:p>
        </p:txBody>
      </p:sp>
      <p:sp>
        <p:nvSpPr>
          <p:cNvPr id="3" name="Text 1"/>
          <p:cNvSpPr/>
          <p:nvPr/>
        </p:nvSpPr>
        <p:spPr>
          <a:xfrm>
            <a:off x="621792" y="859536"/>
            <a:ext cx="9601200" cy="246888"/>
          </a:xfrm>
          <a:prstGeom prst="rect">
            <a:avLst/>
          </a:prstGeom>
          <a:noFill/>
          <a:ln/>
        </p:spPr>
        <p:txBody>
          <a:bodyPr wrap="square" lIns="0" tIns="0" rIns="0" bIns="0" rtlCol="0" anchor="ctr"/>
          <a:lstStyle/>
          <a:p>
            <a:pPr indent="0" marL="0">
              <a:buNone/>
            </a:pPr>
            <a:r>
              <a:rPr lang="en-US" sz="1350" dirty="0">
                <a:solidFill>
                  <a:srgbClr val="A7B0C0"/>
                </a:solidFill>
                <a:latin typeface="Aptos" pitchFamily="34" charset="0"/>
                <a:ea typeface="Aptos" pitchFamily="34" charset="-122"/>
                <a:cs typeface="Aptos" pitchFamily="34" charset="-120"/>
              </a:rPr>
              <a:t>I focused on the symbolic reasoning and solver-feedback parts of Logic-LM.</a:t>
            </a:r>
            <a:endParaRPr lang="en-US" sz="1350" dirty="0"/>
          </a:p>
        </p:txBody>
      </p:sp>
      <p:sp>
        <p:nvSpPr>
          <p:cNvPr id="4" name="Shape 2"/>
          <p:cNvSpPr/>
          <p:nvPr/>
        </p:nvSpPr>
        <p:spPr>
          <a:xfrm>
            <a:off x="594360" y="1216152"/>
            <a:ext cx="10972800" cy="0"/>
          </a:xfrm>
          <a:prstGeom prst="line">
            <a:avLst/>
          </a:prstGeom>
          <a:noFill/>
          <a:ln w="12700">
            <a:solidFill>
              <a:srgbClr val="334155"/>
            </a:solidFill>
            <a:prstDash val="solid"/>
          </a:ln>
        </p:spPr>
      </p:sp>
      <p:sp>
        <p:nvSpPr>
          <p:cNvPr id="5" name="Shape 3"/>
          <p:cNvSpPr/>
          <p:nvPr/>
        </p:nvSpPr>
        <p:spPr>
          <a:xfrm>
            <a:off x="2377440" y="2651760"/>
            <a:ext cx="731520" cy="0"/>
          </a:xfrm>
          <a:prstGeom prst="line">
            <a:avLst/>
          </a:prstGeom>
          <a:noFill/>
          <a:ln w="27940">
            <a:solidFill>
              <a:srgbClr val="38BDF8"/>
            </a:solidFill>
            <a:prstDash val="solid"/>
            <a:headEnd type="none"/>
            <a:tailEnd type="triangle"/>
          </a:ln>
        </p:spPr>
      </p:sp>
      <p:sp>
        <p:nvSpPr>
          <p:cNvPr id="6" name="Shape 4"/>
          <p:cNvSpPr/>
          <p:nvPr/>
        </p:nvSpPr>
        <p:spPr>
          <a:xfrm>
            <a:off x="4892040" y="2651760"/>
            <a:ext cx="731520" cy="0"/>
          </a:xfrm>
          <a:prstGeom prst="line">
            <a:avLst/>
          </a:prstGeom>
          <a:noFill/>
          <a:ln w="27940">
            <a:solidFill>
              <a:srgbClr val="34D399"/>
            </a:solidFill>
            <a:prstDash val="solid"/>
            <a:headEnd type="none"/>
            <a:tailEnd type="triangle"/>
          </a:ln>
        </p:spPr>
      </p:sp>
      <p:sp>
        <p:nvSpPr>
          <p:cNvPr id="7" name="Shape 5"/>
          <p:cNvSpPr/>
          <p:nvPr/>
        </p:nvSpPr>
        <p:spPr>
          <a:xfrm>
            <a:off x="7406640" y="2651760"/>
            <a:ext cx="731520" cy="0"/>
          </a:xfrm>
          <a:prstGeom prst="line">
            <a:avLst/>
          </a:prstGeom>
          <a:noFill/>
          <a:ln w="27940">
            <a:solidFill>
              <a:srgbClr val="A78BFA"/>
            </a:solidFill>
            <a:prstDash val="solid"/>
            <a:headEnd type="none"/>
            <a:tailEnd type="triangle"/>
          </a:ln>
        </p:spPr>
      </p:sp>
      <p:sp>
        <p:nvSpPr>
          <p:cNvPr id="8" name="Text 6"/>
          <p:cNvSpPr/>
          <p:nvPr/>
        </p:nvSpPr>
        <p:spPr>
          <a:xfrm>
            <a:off x="594360" y="1965960"/>
            <a:ext cx="2514600" cy="1371600"/>
          </a:xfrm>
          <a:prstGeom prst="roundRect">
            <a:avLst/>
          </a:prstGeom>
          <a:solidFill>
            <a:srgbClr val="172033"/>
          </a:solidFill>
          <a:ln w="15240">
            <a:solidFill>
              <a:srgbClr val="38BDF8"/>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Natural-language test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Example: “Is Irfan ready for the LLM logic project?”</a:t>
            </a:r>
            <a:endParaRPr lang="en-US" sz="1500" dirty="0"/>
          </a:p>
        </p:txBody>
      </p:sp>
      <p:sp>
        <p:nvSpPr>
          <p:cNvPr id="9" name="Text 7"/>
          <p:cNvSpPr/>
          <p:nvPr/>
        </p:nvSpPr>
        <p:spPr>
          <a:xfrm>
            <a:off x="3246120" y="1965960"/>
            <a:ext cx="2514600" cy="1371600"/>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Prolog query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ready_for(irfan, llm_logic)</a:t>
            </a:r>
            <a:endParaRPr lang="en-US" sz="1500" dirty="0"/>
          </a:p>
        </p:txBody>
      </p:sp>
      <p:sp>
        <p:nvSpPr>
          <p:cNvPr id="10" name="Text 8"/>
          <p:cNvSpPr/>
          <p:nvPr/>
        </p:nvSpPr>
        <p:spPr>
          <a:xfrm>
            <a:off x="5897880" y="1965960"/>
            <a:ext cx="2331720" cy="1371600"/>
          </a:xfrm>
          <a:prstGeom prst="roundRect">
            <a:avLst/>
          </a:prstGeom>
          <a:solidFill>
            <a:srgbClr val="172033"/>
          </a:solidFill>
          <a:ln w="15240">
            <a:solidFill>
              <a:srgbClr val="A78BFA"/>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SWI-Prolog KB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facts + rules from Task 4</a:t>
            </a:r>
            <a:endParaRPr lang="en-US" sz="1500" dirty="0"/>
          </a:p>
        </p:txBody>
      </p:sp>
      <p:sp>
        <p:nvSpPr>
          <p:cNvPr id="11" name="Text 9"/>
          <p:cNvSpPr/>
          <p:nvPr/>
        </p:nvSpPr>
        <p:spPr>
          <a:xfrm>
            <a:off x="8366760" y="1965960"/>
            <a:ext cx="2697480" cy="1371600"/>
          </a:xfrm>
          <a:prstGeom prst="roundRect">
            <a:avLst/>
          </a:prstGeom>
          <a:solidFill>
            <a:srgbClr val="172033"/>
          </a:solidFill>
          <a:ln w="15240">
            <a:solidFill>
              <a:srgbClr val="FBBF24"/>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Result report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true / false / error</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plus Markdown output</a:t>
            </a:r>
            <a:endParaRPr lang="en-US" sz="1500" dirty="0"/>
          </a:p>
        </p:txBody>
      </p:sp>
      <p:sp>
        <p:nvSpPr>
          <p:cNvPr id="12" name="Text 10"/>
          <p:cNvSpPr/>
          <p:nvPr/>
        </p:nvSpPr>
        <p:spPr>
          <a:xfrm>
            <a:off x="731520" y="4251960"/>
            <a:ext cx="4572000" cy="310896"/>
          </a:xfrm>
          <a:prstGeom prst="rect">
            <a:avLst/>
          </a:prstGeom>
          <a:noFill/>
          <a:ln/>
        </p:spPr>
        <p:txBody>
          <a:bodyPr wrap="square" lIns="0" tIns="0" rIns="0" bIns="0" rtlCol="0" anchor="ctr"/>
          <a:lstStyle/>
          <a:p>
            <a:pPr indent="0" marL="0">
              <a:buNone/>
            </a:pPr>
            <a:r>
              <a:rPr lang="en-US" sz="1900" b="1" dirty="0">
                <a:solidFill>
                  <a:srgbClr val="E5E7EB"/>
                </a:solidFill>
              </a:rPr>
              <a:t>What I did vs. the full paper</a:t>
            </a:r>
            <a:endParaRPr lang="en-US" sz="1900" dirty="0"/>
          </a:p>
        </p:txBody>
      </p:sp>
      <p:sp>
        <p:nvSpPr>
          <p:cNvPr id="13" name="Text 11"/>
          <p:cNvSpPr/>
          <p:nvPr/>
        </p:nvSpPr>
        <p:spPr>
          <a:xfrm>
            <a:off x="841248" y="4718304"/>
            <a:ext cx="164592" cy="219456"/>
          </a:xfrm>
          <a:prstGeom prst="rect">
            <a:avLst/>
          </a:prstGeom>
          <a:noFill/>
          <a:ln/>
        </p:spPr>
        <p:txBody>
          <a:bodyPr wrap="square" lIns="0" tIns="0" rIns="0" bIns="0" rtlCol="0" anchor="ctr"/>
          <a:lstStyle/>
          <a:p>
            <a:pPr indent="0" marL="0">
              <a:buNone/>
            </a:pPr>
            <a:r>
              <a:rPr lang="en-US" sz="1520" b="1" dirty="0">
                <a:solidFill>
                  <a:srgbClr val="34D399"/>
                </a:solidFill>
              </a:rPr>
              <a:t>•</a:t>
            </a:r>
            <a:endParaRPr lang="en-US" sz="1520" dirty="0"/>
          </a:p>
        </p:txBody>
      </p:sp>
      <p:sp>
        <p:nvSpPr>
          <p:cNvPr id="14" name="Text 12"/>
          <p:cNvSpPr/>
          <p:nvPr/>
        </p:nvSpPr>
        <p:spPr>
          <a:xfrm>
            <a:off x="1069848" y="4736592"/>
            <a:ext cx="9875520" cy="256032"/>
          </a:xfrm>
          <a:prstGeom prst="rect">
            <a:avLst/>
          </a:prstGeom>
          <a:noFill/>
          <a:ln/>
        </p:spPr>
        <p:txBody>
          <a:bodyPr wrap="square" lIns="0" tIns="0" rIns="0" bIns="0" rtlCol="0" anchor="ctr">
            <a:normAutofit/>
          </a:bodyPr>
          <a:lstStyle/>
          <a:p>
            <a:pPr indent="0" marL="0">
              <a:buNone/>
            </a:pPr>
            <a:r>
              <a:rPr lang="en-US" sz="1520" dirty="0">
                <a:solidFill>
                  <a:srgbClr val="E5E7EB"/>
                </a:solidFill>
              </a:rPr>
              <a:t>Kept: explicit facts, rules, symbolic solving, reproducible tests, solver-error detection.</a:t>
            </a:r>
            <a:endParaRPr lang="en-US" sz="1520" dirty="0"/>
          </a:p>
        </p:txBody>
      </p:sp>
      <p:sp>
        <p:nvSpPr>
          <p:cNvPr id="15" name="Text 13"/>
          <p:cNvSpPr/>
          <p:nvPr/>
        </p:nvSpPr>
        <p:spPr>
          <a:xfrm>
            <a:off x="841248" y="5193792"/>
            <a:ext cx="164592" cy="219456"/>
          </a:xfrm>
          <a:prstGeom prst="rect">
            <a:avLst/>
          </a:prstGeom>
          <a:noFill/>
          <a:ln/>
        </p:spPr>
        <p:txBody>
          <a:bodyPr wrap="square" lIns="0" tIns="0" rIns="0" bIns="0" rtlCol="0" anchor="ctr"/>
          <a:lstStyle/>
          <a:p>
            <a:pPr indent="0" marL="0">
              <a:buNone/>
            </a:pPr>
            <a:r>
              <a:rPr lang="en-US" sz="1520" b="1" dirty="0">
                <a:solidFill>
                  <a:srgbClr val="FBBF24"/>
                </a:solidFill>
              </a:rPr>
              <a:t>•</a:t>
            </a:r>
            <a:endParaRPr lang="en-US" sz="1520" dirty="0"/>
          </a:p>
        </p:txBody>
      </p:sp>
      <p:sp>
        <p:nvSpPr>
          <p:cNvPr id="16" name="Text 14"/>
          <p:cNvSpPr/>
          <p:nvPr/>
        </p:nvSpPr>
        <p:spPr>
          <a:xfrm>
            <a:off x="1069848" y="5212080"/>
            <a:ext cx="9875520" cy="256032"/>
          </a:xfrm>
          <a:prstGeom prst="rect">
            <a:avLst/>
          </a:prstGeom>
          <a:noFill/>
          <a:ln/>
        </p:spPr>
        <p:txBody>
          <a:bodyPr wrap="square" lIns="0" tIns="0" rIns="0" bIns="0" rtlCol="0" anchor="ctr">
            <a:normAutofit/>
          </a:bodyPr>
          <a:lstStyle/>
          <a:p>
            <a:pPr indent="0" marL="0">
              <a:buNone/>
            </a:pPr>
            <a:r>
              <a:rPr lang="en-US" sz="1520" dirty="0">
                <a:solidFill>
                  <a:srgbClr val="E5E7EB"/>
                </a:solidFill>
              </a:rPr>
              <a:t>Simplified: the natural-language-to-logic step is manually specified instead of LLM-generated.</a:t>
            </a:r>
            <a:endParaRPr lang="en-US" sz="1520" dirty="0"/>
          </a:p>
        </p:txBody>
      </p:sp>
      <p:sp>
        <p:nvSpPr>
          <p:cNvPr id="17" name="Text 15"/>
          <p:cNvSpPr/>
          <p:nvPr/>
        </p:nvSpPr>
        <p:spPr>
          <a:xfrm>
            <a:off x="548640" y="6473952"/>
            <a:ext cx="45720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AIEA Lab Internship · Week 5</a:t>
            </a:r>
            <a:endParaRPr lang="en-US" sz="750" dirty="0"/>
          </a:p>
        </p:txBody>
      </p:sp>
      <p:sp>
        <p:nvSpPr>
          <p:cNvPr id="18" name="Text 16"/>
          <p:cNvSpPr/>
          <p:nvPr/>
        </p:nvSpPr>
        <p:spPr>
          <a:xfrm>
            <a:off x="11475720"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94360" y="365760"/>
            <a:ext cx="8595360" cy="438912"/>
          </a:xfrm>
          <a:prstGeom prst="rect">
            <a:avLst/>
          </a:prstGeom>
          <a:noFill/>
          <a:ln/>
        </p:spPr>
        <p:txBody>
          <a:bodyPr wrap="square" lIns="0" tIns="0" rIns="0" bIns="0" rtlCol="0" anchor="ctr"/>
          <a:lstStyle/>
          <a:p>
            <a:pPr indent="0" marL="0">
              <a:buNone/>
            </a:pPr>
            <a:r>
              <a:rPr lang="en-US" sz="3000" b="1" dirty="0">
                <a:solidFill>
                  <a:srgbClr val="E5E7EB"/>
                </a:solidFill>
                <a:latin typeface="Aptos Display" pitchFamily="34" charset="0"/>
                <a:ea typeface="Aptos Display" pitchFamily="34" charset="-122"/>
                <a:cs typeface="Aptos Display" pitchFamily="34" charset="-120"/>
              </a:rPr>
              <a:t>Knowledge base and test coverage</a:t>
            </a:r>
            <a:endParaRPr lang="en-US" sz="3000" dirty="0"/>
          </a:p>
        </p:txBody>
      </p:sp>
      <p:sp>
        <p:nvSpPr>
          <p:cNvPr id="3" name="Text 1"/>
          <p:cNvSpPr/>
          <p:nvPr/>
        </p:nvSpPr>
        <p:spPr>
          <a:xfrm>
            <a:off x="621792" y="859536"/>
            <a:ext cx="9601200" cy="246888"/>
          </a:xfrm>
          <a:prstGeom prst="rect">
            <a:avLst/>
          </a:prstGeom>
          <a:noFill/>
          <a:ln/>
        </p:spPr>
        <p:txBody>
          <a:bodyPr wrap="square" lIns="0" tIns="0" rIns="0" bIns="0" rtlCol="0" anchor="ctr"/>
          <a:lstStyle/>
          <a:p>
            <a:pPr indent="0" marL="0">
              <a:buNone/>
            </a:pPr>
            <a:r>
              <a:rPr lang="en-US" sz="1350" dirty="0">
                <a:solidFill>
                  <a:srgbClr val="A7B0C0"/>
                </a:solidFill>
                <a:latin typeface="Aptos" pitchFamily="34" charset="0"/>
                <a:ea typeface="Aptos" pitchFamily="34" charset="-122"/>
                <a:cs typeface="Aptos" pitchFamily="34" charset="-120"/>
              </a:rPr>
              <a:t>The tests verify direct facts, inference rules, unsupported claims, and malformed logic.</a:t>
            </a:r>
            <a:endParaRPr lang="en-US" sz="1350" dirty="0"/>
          </a:p>
        </p:txBody>
      </p:sp>
      <p:sp>
        <p:nvSpPr>
          <p:cNvPr id="4" name="Shape 2"/>
          <p:cNvSpPr/>
          <p:nvPr/>
        </p:nvSpPr>
        <p:spPr>
          <a:xfrm>
            <a:off x="594360" y="1216152"/>
            <a:ext cx="10972800" cy="0"/>
          </a:xfrm>
          <a:prstGeom prst="line">
            <a:avLst/>
          </a:prstGeom>
          <a:noFill/>
          <a:ln w="12700">
            <a:solidFill>
              <a:srgbClr val="334155"/>
            </a:solidFill>
            <a:prstDash val="solid"/>
          </a:ln>
        </p:spPr>
      </p:sp>
      <p:sp>
        <p:nvSpPr>
          <p:cNvPr id="5" name="Text 3"/>
          <p:cNvSpPr/>
          <p:nvPr/>
        </p:nvSpPr>
        <p:spPr>
          <a:xfrm>
            <a:off x="713232" y="1600200"/>
            <a:ext cx="4206240" cy="256032"/>
          </a:xfrm>
          <a:prstGeom prst="rect">
            <a:avLst/>
          </a:prstGeom>
          <a:noFill/>
          <a:ln/>
        </p:spPr>
        <p:txBody>
          <a:bodyPr wrap="square" lIns="0" tIns="0" rIns="0" bIns="0" rtlCol="0" anchor="ctr"/>
          <a:lstStyle/>
          <a:p>
            <a:pPr indent="0" marL="0">
              <a:buNone/>
            </a:pPr>
            <a:r>
              <a:rPr lang="en-US" sz="1250" b="1" dirty="0">
                <a:solidFill>
                  <a:srgbClr val="34D399"/>
                </a:solidFill>
              </a:rPr>
              <a:t>Example Prolog knowledge base</a:t>
            </a:r>
            <a:endParaRPr lang="en-US" sz="1250" dirty="0"/>
          </a:p>
        </p:txBody>
      </p:sp>
      <p:sp>
        <p:nvSpPr>
          <p:cNvPr id="6" name="Text 4"/>
          <p:cNvSpPr/>
          <p:nvPr/>
        </p:nvSpPr>
        <p:spPr>
          <a:xfrm>
            <a:off x="713232" y="1920240"/>
            <a:ext cx="4206240" cy="2743200"/>
          </a:xfrm>
          <a:prstGeom prst="rect">
            <a:avLst/>
          </a:prstGeom>
          <a:solidFill>
            <a:srgbClr val="0F172A"/>
          </a:solidFill>
          <a:ln w="12700">
            <a:solidFill>
              <a:srgbClr val="334155"/>
            </a:solidFill>
          </a:ln>
        </p:spPr>
        <p:txBody>
          <a:bodyPr wrap="square" rtlCol="0" anchor="ctr">
            <a:normAutofit/>
          </a:bodyPr>
          <a:lstStyle/>
          <a:p>
            <a:pPr indent="0" marL="0">
              <a:buNone/>
            </a:pPr>
            <a:r>
              <a:rPr lang="en-US" sz="1220" dirty="0">
                <a:solidFill>
                  <a:srgbClr val="E5E7EB"/>
                </a:solidFill>
                <a:latin typeface="Consolas" pitchFamily="34" charset="0"/>
                <a:ea typeface="Consolas" pitchFamily="34" charset="-122"/>
                <a:cs typeface="Consolas" pitchFamily="34" charset="-120"/>
              </a:rPr>
              <a:t>intern(irfan).</a:t>
            </a:r>
            <a:endParaRPr lang="en-US" sz="1220" dirty="0"/>
          </a:p>
          <a:p>
            <a:pPr indent="0" marL="0">
              <a:buNone/>
            </a:pPr>
            <a:r>
              <a:rPr lang="en-US" sz="1220" dirty="0">
                <a:solidFill>
                  <a:srgbClr val="E5E7EB"/>
                </a:solidFill>
                <a:latin typeface="Consolas" pitchFamily="34" charset="0"/>
                <a:ea typeface="Consolas" pitchFamily="34" charset="-122"/>
                <a:cs typeface="Consolas" pitchFamily="34" charset="-120"/>
              </a:rPr>
              <a:t>knows(irfan, python).</a:t>
            </a:r>
            <a:endParaRPr lang="en-US" sz="1220" dirty="0"/>
          </a:p>
          <a:p>
            <a:pPr indent="0" marL="0">
              <a:buNone/>
            </a:pPr>
            <a:r>
              <a:rPr lang="en-US" sz="1220" dirty="0">
                <a:solidFill>
                  <a:srgbClr val="E5E7EB"/>
                </a:solidFill>
                <a:latin typeface="Consolas" pitchFamily="34" charset="0"/>
                <a:ea typeface="Consolas" pitchFamily="34" charset="-122"/>
                <a:cs typeface="Consolas" pitchFamily="34" charset="-120"/>
              </a:rPr>
              <a:t>requires(llm_logic, python).</a:t>
            </a:r>
            <a:endParaRPr lang="en-US" sz="1220" dirty="0"/>
          </a:p>
          <a:p>
            <a:pPr indent="0" marL="0">
              <a:buNone/>
            </a:pPr>
            <a:endParaRPr lang="en-US" sz="1220" dirty="0"/>
          </a:p>
          <a:p>
            <a:pPr indent="0" marL="0">
              <a:buNone/>
            </a:pPr>
            <a:r>
              <a:rPr lang="en-US" sz="1220" dirty="0">
                <a:solidFill>
                  <a:srgbClr val="E5E7EB"/>
                </a:solidFill>
                <a:latin typeface="Consolas" pitchFamily="34" charset="0"/>
                <a:ea typeface="Consolas" pitchFamily="34" charset="-122"/>
                <a:cs typeface="Consolas" pitchFamily="34" charset="-120"/>
              </a:rPr>
              <a:t>ready_for(Person, Project) :-</a:t>
            </a:r>
            <a:endParaRPr lang="en-US" sz="1220" dirty="0"/>
          </a:p>
          <a:p>
            <a:pPr indent="0" marL="0">
              <a:buNone/>
            </a:pPr>
            <a:r>
              <a:rPr lang="en-US" sz="1220" dirty="0">
                <a:solidFill>
                  <a:srgbClr val="E5E7EB"/>
                </a:solidFill>
                <a:latin typeface="Consolas" pitchFamily="34" charset="0"/>
                <a:ea typeface="Consolas" pitchFamily="34" charset="-122"/>
                <a:cs typeface="Consolas" pitchFamily="34" charset="-120"/>
              </a:rPr>
              <a:t>  knows(Person, Skill),</a:t>
            </a:r>
            <a:endParaRPr lang="en-US" sz="1220" dirty="0"/>
          </a:p>
          <a:p>
            <a:pPr indent="0" marL="0">
              <a:buNone/>
            </a:pPr>
            <a:r>
              <a:rPr lang="en-US" sz="1220" dirty="0">
                <a:solidFill>
                  <a:srgbClr val="E5E7EB"/>
                </a:solidFill>
                <a:latin typeface="Consolas" pitchFamily="34" charset="0"/>
                <a:ea typeface="Consolas" pitchFamily="34" charset="-122"/>
                <a:cs typeface="Consolas" pitchFamily="34" charset="-120"/>
              </a:rPr>
              <a:t>  requires(Project, Skill).</a:t>
            </a:r>
            <a:endParaRPr lang="en-US" sz="1220" dirty="0"/>
          </a:p>
        </p:txBody>
      </p:sp>
      <p:sp>
        <p:nvSpPr>
          <p:cNvPr id="7" name="Text 5"/>
          <p:cNvSpPr/>
          <p:nvPr/>
        </p:nvSpPr>
        <p:spPr>
          <a:xfrm>
            <a:off x="7406640" y="1673352"/>
            <a:ext cx="3063240" cy="1298448"/>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7 / 7 tests passed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The runner compared expected vs. actual symbolic results and wrote test_results.md.</a:t>
            </a:r>
            <a:endParaRPr lang="en-US" sz="1500" dirty="0"/>
          </a:p>
        </p:txBody>
      </p:sp>
      <p:sp>
        <p:nvSpPr>
          <p:cNvPr id="8" name="Text 6"/>
          <p:cNvSpPr/>
          <p:nvPr/>
        </p:nvSpPr>
        <p:spPr>
          <a:xfrm>
            <a:off x="5577840" y="3493008"/>
            <a:ext cx="1828800" cy="201168"/>
          </a:xfrm>
          <a:prstGeom prst="rect">
            <a:avLst/>
          </a:prstGeom>
          <a:noFill/>
          <a:ln/>
        </p:spPr>
        <p:txBody>
          <a:bodyPr wrap="square" lIns="0" tIns="0" rIns="0" bIns="0" rtlCol="0" anchor="ctr"/>
          <a:lstStyle/>
          <a:p>
            <a:pPr algn="ctr" indent="0" marL="0">
              <a:buNone/>
            </a:pPr>
            <a:r>
              <a:rPr lang="en-US" sz="1050" dirty="0">
                <a:solidFill>
                  <a:srgbClr val="6B7280"/>
                </a:solidFill>
              </a:rPr>
              <a:t>Test categories</a:t>
            </a:r>
            <a:endParaRPr lang="en-US" sz="1050" dirty="0"/>
          </a:p>
        </p:txBody>
      </p:sp>
      <p:sp>
        <p:nvSpPr>
          <p:cNvPr id="9" name="Text 7"/>
          <p:cNvSpPr/>
          <p:nvPr/>
        </p:nvSpPr>
        <p:spPr>
          <a:xfrm>
            <a:off x="5577840" y="3822192"/>
            <a:ext cx="1554480" cy="685800"/>
          </a:xfrm>
          <a:prstGeom prst="roundRect">
            <a:avLst/>
          </a:prstGeom>
          <a:solidFill>
            <a:srgbClr val="172033"/>
          </a:solidFill>
          <a:ln w="15240">
            <a:solidFill>
              <a:srgbClr val="38BDF8"/>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Direct facts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intern/1, knows/2</a:t>
            </a:r>
            <a:endParaRPr lang="en-US" sz="1500" dirty="0"/>
          </a:p>
        </p:txBody>
      </p:sp>
      <p:sp>
        <p:nvSpPr>
          <p:cNvPr id="10" name="Text 8"/>
          <p:cNvSpPr/>
          <p:nvPr/>
        </p:nvSpPr>
        <p:spPr>
          <a:xfrm>
            <a:off x="7315200" y="3822192"/>
            <a:ext cx="1600200" cy="685800"/>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Inference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ready_for/2 rules</a:t>
            </a:r>
            <a:endParaRPr lang="en-US" sz="1500" dirty="0"/>
          </a:p>
        </p:txBody>
      </p:sp>
      <p:sp>
        <p:nvSpPr>
          <p:cNvPr id="11" name="Text 9"/>
          <p:cNvSpPr/>
          <p:nvPr/>
        </p:nvSpPr>
        <p:spPr>
          <a:xfrm>
            <a:off x="9098280" y="3822192"/>
            <a:ext cx="1463040" cy="685800"/>
          </a:xfrm>
          <a:prstGeom prst="roundRect">
            <a:avLst/>
          </a:prstGeom>
          <a:solidFill>
            <a:srgbClr val="172033"/>
          </a:solidFill>
          <a:ln w="15240">
            <a:solidFill>
              <a:srgbClr val="FBBF24"/>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False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not derivable</a:t>
            </a:r>
            <a:endParaRPr lang="en-US" sz="1500" dirty="0"/>
          </a:p>
        </p:txBody>
      </p:sp>
      <p:sp>
        <p:nvSpPr>
          <p:cNvPr id="12" name="Text 10"/>
          <p:cNvSpPr/>
          <p:nvPr/>
        </p:nvSpPr>
        <p:spPr>
          <a:xfrm>
            <a:off x="10716768" y="3822192"/>
            <a:ext cx="914400" cy="685800"/>
          </a:xfrm>
          <a:prstGeom prst="roundRect">
            <a:avLst/>
          </a:prstGeom>
          <a:solidFill>
            <a:srgbClr val="172033"/>
          </a:solidFill>
          <a:ln w="15240">
            <a:solidFill>
              <a:srgbClr val="F87171"/>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Error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bad syntax</a:t>
            </a:r>
            <a:endParaRPr lang="en-US" sz="1500" dirty="0"/>
          </a:p>
        </p:txBody>
      </p:sp>
      <p:sp>
        <p:nvSpPr>
          <p:cNvPr id="13" name="Text 11"/>
          <p:cNvSpPr/>
          <p:nvPr/>
        </p:nvSpPr>
        <p:spPr>
          <a:xfrm>
            <a:off x="5577840" y="5074920"/>
            <a:ext cx="5486400" cy="502920"/>
          </a:xfrm>
          <a:prstGeom prst="rect">
            <a:avLst/>
          </a:prstGeom>
          <a:noFill/>
          <a:ln/>
        </p:spPr>
        <p:txBody>
          <a:bodyPr wrap="square" lIns="0" tIns="0" rIns="0" bIns="0" rtlCol="0" anchor="ctr">
            <a:normAutofit/>
          </a:bodyPr>
          <a:lstStyle/>
          <a:p>
            <a:pPr indent="0" marL="0">
              <a:buNone/>
            </a:pPr>
            <a:r>
              <a:rPr lang="en-US" sz="1700" dirty="0">
                <a:solidFill>
                  <a:srgbClr val="E5E7EB"/>
                </a:solidFill>
              </a:rPr>
              <a:t>The malformed query demonstrates how a solver can return useful feedback when symbolic logic is invalid.</a:t>
            </a:r>
            <a:endParaRPr lang="en-US" sz="1700" dirty="0"/>
          </a:p>
        </p:txBody>
      </p:sp>
      <p:sp>
        <p:nvSpPr>
          <p:cNvPr id="14" name="Text 12"/>
          <p:cNvSpPr/>
          <p:nvPr/>
        </p:nvSpPr>
        <p:spPr>
          <a:xfrm>
            <a:off x="548640" y="6473952"/>
            <a:ext cx="45720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AIEA Lab Internship · Week 5</a:t>
            </a:r>
            <a:endParaRPr lang="en-US" sz="750" dirty="0"/>
          </a:p>
        </p:txBody>
      </p:sp>
      <p:sp>
        <p:nvSpPr>
          <p:cNvPr id="15" name="Text 13"/>
          <p:cNvSpPr/>
          <p:nvPr/>
        </p:nvSpPr>
        <p:spPr>
          <a:xfrm>
            <a:off x="11475720"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94360" y="365760"/>
            <a:ext cx="8595360" cy="438912"/>
          </a:xfrm>
          <a:prstGeom prst="rect">
            <a:avLst/>
          </a:prstGeom>
          <a:noFill/>
          <a:ln/>
        </p:spPr>
        <p:txBody>
          <a:bodyPr wrap="square" lIns="0" tIns="0" rIns="0" bIns="0" rtlCol="0" anchor="ctr"/>
          <a:lstStyle/>
          <a:p>
            <a:pPr indent="0" marL="0">
              <a:buNone/>
            </a:pPr>
            <a:r>
              <a:rPr lang="en-US" sz="3000" b="1" dirty="0">
                <a:solidFill>
                  <a:srgbClr val="E5E7EB"/>
                </a:solidFill>
                <a:latin typeface="Aptos Display" pitchFamily="34" charset="0"/>
                <a:ea typeface="Aptos Display" pitchFamily="34" charset="-122"/>
                <a:cs typeface="Aptos Display" pitchFamily="34" charset="-120"/>
              </a:rPr>
              <a:t>Original Logic-LM repository inspection</a:t>
            </a:r>
            <a:endParaRPr lang="en-US" sz="3000" dirty="0"/>
          </a:p>
        </p:txBody>
      </p:sp>
      <p:sp>
        <p:nvSpPr>
          <p:cNvPr id="3" name="Text 1"/>
          <p:cNvSpPr/>
          <p:nvPr/>
        </p:nvSpPr>
        <p:spPr>
          <a:xfrm>
            <a:off x="621792" y="859536"/>
            <a:ext cx="9601200" cy="246888"/>
          </a:xfrm>
          <a:prstGeom prst="rect">
            <a:avLst/>
          </a:prstGeom>
          <a:noFill/>
          <a:ln/>
        </p:spPr>
        <p:txBody>
          <a:bodyPr wrap="square" lIns="0" tIns="0" rIns="0" bIns="0" rtlCol="0" anchor="ctr"/>
          <a:lstStyle/>
          <a:p>
            <a:pPr indent="0" marL="0">
              <a:buNone/>
            </a:pPr>
            <a:r>
              <a:rPr lang="en-US" sz="1350" dirty="0">
                <a:solidFill>
                  <a:srgbClr val="A7B0C0"/>
                </a:solidFill>
                <a:latin typeface="Aptos" pitchFamily="34" charset="0"/>
                <a:ea typeface="Aptos" pitchFamily="34" charset="-122"/>
                <a:cs typeface="Aptos" pitchFamily="34" charset="-120"/>
              </a:rPr>
              <a:t>I compared my simplified pipeline to the paper’s code structure.</a:t>
            </a:r>
            <a:endParaRPr lang="en-US" sz="1350" dirty="0"/>
          </a:p>
        </p:txBody>
      </p:sp>
      <p:sp>
        <p:nvSpPr>
          <p:cNvPr id="4" name="Shape 2"/>
          <p:cNvSpPr/>
          <p:nvPr/>
        </p:nvSpPr>
        <p:spPr>
          <a:xfrm>
            <a:off x="594360" y="1216152"/>
            <a:ext cx="10972800" cy="0"/>
          </a:xfrm>
          <a:prstGeom prst="line">
            <a:avLst/>
          </a:prstGeom>
          <a:noFill/>
          <a:ln w="12700">
            <a:solidFill>
              <a:srgbClr val="334155"/>
            </a:solidFill>
            <a:prstDash val="solid"/>
          </a:ln>
        </p:spPr>
      </p:sp>
      <p:sp>
        <p:nvSpPr>
          <p:cNvPr id="5" name="Text 3"/>
          <p:cNvSpPr/>
          <p:nvPr/>
        </p:nvSpPr>
        <p:spPr>
          <a:xfrm>
            <a:off x="731520" y="1783080"/>
            <a:ext cx="3246120" cy="914400"/>
          </a:xfrm>
          <a:prstGeom prst="roundRect">
            <a:avLst/>
          </a:prstGeom>
          <a:solidFill>
            <a:srgbClr val="172033"/>
          </a:solidFill>
          <a:ln w="15240">
            <a:solidFill>
              <a:srgbClr val="38BDF8"/>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logic_program.py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Builds prompts and generates symbolic programs from dataset problems.</a:t>
            </a:r>
            <a:endParaRPr lang="en-US" sz="1500" dirty="0"/>
          </a:p>
        </p:txBody>
      </p:sp>
      <p:sp>
        <p:nvSpPr>
          <p:cNvPr id="6" name="Text 4"/>
          <p:cNvSpPr/>
          <p:nvPr/>
        </p:nvSpPr>
        <p:spPr>
          <a:xfrm>
            <a:off x="731520" y="3063240"/>
            <a:ext cx="3246120" cy="914400"/>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logic_inference.py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Runs generated symbolic programs through the selected solver.</a:t>
            </a:r>
            <a:endParaRPr lang="en-US" sz="1500" dirty="0"/>
          </a:p>
        </p:txBody>
      </p:sp>
      <p:sp>
        <p:nvSpPr>
          <p:cNvPr id="7" name="Text 5"/>
          <p:cNvSpPr/>
          <p:nvPr/>
        </p:nvSpPr>
        <p:spPr>
          <a:xfrm>
            <a:off x="731520" y="4343400"/>
            <a:ext cx="3246120" cy="914400"/>
          </a:xfrm>
          <a:prstGeom prst="roundRect">
            <a:avLst/>
          </a:prstGeom>
          <a:solidFill>
            <a:srgbClr val="172033"/>
          </a:solidFill>
          <a:ln w="15240">
            <a:solidFill>
              <a:srgbClr val="FBBF24"/>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self_refinement.py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Uses solver errors as feedback for revising invalid logic.</a:t>
            </a:r>
            <a:endParaRPr lang="en-US" sz="1500" dirty="0"/>
          </a:p>
        </p:txBody>
      </p:sp>
      <p:sp>
        <p:nvSpPr>
          <p:cNvPr id="8" name="Shape 6"/>
          <p:cNvSpPr/>
          <p:nvPr/>
        </p:nvSpPr>
        <p:spPr>
          <a:xfrm>
            <a:off x="4160520" y="2240280"/>
            <a:ext cx="731520" cy="0"/>
          </a:xfrm>
          <a:prstGeom prst="line">
            <a:avLst/>
          </a:prstGeom>
          <a:noFill/>
          <a:ln w="27940">
            <a:solidFill>
              <a:srgbClr val="334155"/>
            </a:solidFill>
            <a:prstDash val="solid"/>
            <a:headEnd type="none"/>
            <a:tailEnd type="triangle"/>
          </a:ln>
        </p:spPr>
      </p:sp>
      <p:sp>
        <p:nvSpPr>
          <p:cNvPr id="9" name="Shape 7"/>
          <p:cNvSpPr/>
          <p:nvPr/>
        </p:nvSpPr>
        <p:spPr>
          <a:xfrm>
            <a:off x="4160520" y="3520440"/>
            <a:ext cx="731520" cy="0"/>
          </a:xfrm>
          <a:prstGeom prst="line">
            <a:avLst/>
          </a:prstGeom>
          <a:noFill/>
          <a:ln w="27940">
            <a:solidFill>
              <a:srgbClr val="334155"/>
            </a:solidFill>
            <a:prstDash val="solid"/>
            <a:headEnd type="none"/>
            <a:tailEnd type="triangle"/>
          </a:ln>
        </p:spPr>
      </p:sp>
      <p:sp>
        <p:nvSpPr>
          <p:cNvPr id="10" name="Shape 8"/>
          <p:cNvSpPr/>
          <p:nvPr/>
        </p:nvSpPr>
        <p:spPr>
          <a:xfrm>
            <a:off x="4160520" y="4800600"/>
            <a:ext cx="731520" cy="0"/>
          </a:xfrm>
          <a:prstGeom prst="line">
            <a:avLst/>
          </a:prstGeom>
          <a:noFill/>
          <a:ln w="27940">
            <a:solidFill>
              <a:srgbClr val="334155"/>
            </a:solidFill>
            <a:prstDash val="solid"/>
            <a:headEnd type="none"/>
            <a:tailEnd type="triangle"/>
          </a:ln>
        </p:spPr>
      </p:sp>
      <p:sp>
        <p:nvSpPr>
          <p:cNvPr id="11" name="Text 9"/>
          <p:cNvSpPr/>
          <p:nvPr/>
        </p:nvSpPr>
        <p:spPr>
          <a:xfrm>
            <a:off x="5230368" y="1856232"/>
            <a:ext cx="4114800" cy="310896"/>
          </a:xfrm>
          <a:prstGeom prst="rect">
            <a:avLst/>
          </a:prstGeom>
          <a:noFill/>
          <a:ln/>
        </p:spPr>
        <p:txBody>
          <a:bodyPr wrap="square" lIns="0" tIns="0" rIns="0" bIns="0" rtlCol="0" anchor="ctr"/>
          <a:lstStyle/>
          <a:p>
            <a:pPr indent="0" marL="0">
              <a:buNone/>
            </a:pPr>
            <a:r>
              <a:rPr lang="en-US" sz="2000" b="1" dirty="0">
                <a:solidFill>
                  <a:srgbClr val="E5E7EB"/>
                </a:solidFill>
              </a:rPr>
              <a:t>What this confirmed</a:t>
            </a:r>
            <a:endParaRPr lang="en-US" sz="2000" dirty="0"/>
          </a:p>
        </p:txBody>
      </p:sp>
      <p:sp>
        <p:nvSpPr>
          <p:cNvPr id="12" name="Text 10"/>
          <p:cNvSpPr/>
          <p:nvPr/>
        </p:nvSpPr>
        <p:spPr>
          <a:xfrm>
            <a:off x="5285232" y="2395728"/>
            <a:ext cx="164592" cy="219456"/>
          </a:xfrm>
          <a:prstGeom prst="rect">
            <a:avLst/>
          </a:prstGeom>
          <a:noFill/>
          <a:ln/>
        </p:spPr>
        <p:txBody>
          <a:bodyPr wrap="square" lIns="0" tIns="0" rIns="0" bIns="0" rtlCol="0" anchor="ctr"/>
          <a:lstStyle/>
          <a:p>
            <a:pPr indent="0" marL="0">
              <a:buNone/>
            </a:pPr>
            <a:r>
              <a:rPr lang="en-US" sz="1550" b="1" dirty="0">
                <a:solidFill>
                  <a:srgbClr val="38BDF8"/>
                </a:solidFill>
              </a:rPr>
              <a:t>•</a:t>
            </a:r>
            <a:endParaRPr lang="en-US" sz="1550" dirty="0"/>
          </a:p>
        </p:txBody>
      </p:sp>
      <p:sp>
        <p:nvSpPr>
          <p:cNvPr id="13" name="Text 11"/>
          <p:cNvSpPr/>
          <p:nvPr/>
        </p:nvSpPr>
        <p:spPr>
          <a:xfrm>
            <a:off x="5513832" y="2414016"/>
            <a:ext cx="5806440" cy="256032"/>
          </a:xfrm>
          <a:prstGeom prst="rect">
            <a:avLst/>
          </a:prstGeom>
          <a:noFill/>
          <a:ln/>
        </p:spPr>
        <p:txBody>
          <a:bodyPr wrap="square" lIns="0" tIns="0" rIns="0" bIns="0" rtlCol="0" anchor="ctr">
            <a:normAutofit/>
          </a:bodyPr>
          <a:lstStyle/>
          <a:p>
            <a:pPr indent="0" marL="0">
              <a:buNone/>
            </a:pPr>
            <a:r>
              <a:rPr lang="en-US" sz="1550" dirty="0">
                <a:solidFill>
                  <a:srgbClr val="E5E7EB"/>
                </a:solidFill>
              </a:rPr>
              <a:t>The full system is modular: generation, inference, evaluation, and refinement are separated.</a:t>
            </a:r>
            <a:endParaRPr lang="en-US" sz="1550" dirty="0"/>
          </a:p>
        </p:txBody>
      </p:sp>
      <p:sp>
        <p:nvSpPr>
          <p:cNvPr id="14" name="Text 12"/>
          <p:cNvSpPr/>
          <p:nvPr/>
        </p:nvSpPr>
        <p:spPr>
          <a:xfrm>
            <a:off x="5285232" y="3081528"/>
            <a:ext cx="164592" cy="219456"/>
          </a:xfrm>
          <a:prstGeom prst="rect">
            <a:avLst/>
          </a:prstGeom>
          <a:noFill/>
          <a:ln/>
        </p:spPr>
        <p:txBody>
          <a:bodyPr wrap="square" lIns="0" tIns="0" rIns="0" bIns="0" rtlCol="0" anchor="ctr"/>
          <a:lstStyle/>
          <a:p>
            <a:pPr indent="0" marL="0">
              <a:buNone/>
            </a:pPr>
            <a:r>
              <a:rPr lang="en-US" sz="1550" b="1" dirty="0">
                <a:solidFill>
                  <a:srgbClr val="34D399"/>
                </a:solidFill>
              </a:rPr>
              <a:t>•</a:t>
            </a:r>
            <a:endParaRPr lang="en-US" sz="1550" dirty="0"/>
          </a:p>
        </p:txBody>
      </p:sp>
      <p:sp>
        <p:nvSpPr>
          <p:cNvPr id="15" name="Text 13"/>
          <p:cNvSpPr/>
          <p:nvPr/>
        </p:nvSpPr>
        <p:spPr>
          <a:xfrm>
            <a:off x="5513832" y="3099816"/>
            <a:ext cx="5806440" cy="256032"/>
          </a:xfrm>
          <a:prstGeom prst="rect">
            <a:avLst/>
          </a:prstGeom>
          <a:noFill/>
          <a:ln/>
        </p:spPr>
        <p:txBody>
          <a:bodyPr wrap="square" lIns="0" tIns="0" rIns="0" bIns="0" rtlCol="0" anchor="ctr">
            <a:normAutofit/>
          </a:bodyPr>
          <a:lstStyle/>
          <a:p>
            <a:pPr indent="0" marL="0">
              <a:buNone/>
            </a:pPr>
            <a:r>
              <a:rPr lang="en-US" sz="1550" dirty="0">
                <a:solidFill>
                  <a:srgbClr val="E5E7EB"/>
                </a:solidFill>
              </a:rPr>
              <a:t>Different reasoning tasks require different symbolic tools.</a:t>
            </a:r>
            <a:endParaRPr lang="en-US" sz="1550" dirty="0"/>
          </a:p>
        </p:txBody>
      </p:sp>
      <p:sp>
        <p:nvSpPr>
          <p:cNvPr id="16" name="Text 14"/>
          <p:cNvSpPr/>
          <p:nvPr/>
        </p:nvSpPr>
        <p:spPr>
          <a:xfrm>
            <a:off x="5285232" y="3767328"/>
            <a:ext cx="164592" cy="219456"/>
          </a:xfrm>
          <a:prstGeom prst="rect">
            <a:avLst/>
          </a:prstGeom>
          <a:noFill/>
          <a:ln/>
        </p:spPr>
        <p:txBody>
          <a:bodyPr wrap="square" lIns="0" tIns="0" rIns="0" bIns="0" rtlCol="0" anchor="ctr"/>
          <a:lstStyle/>
          <a:p>
            <a:pPr indent="0" marL="0">
              <a:buNone/>
            </a:pPr>
            <a:r>
              <a:rPr lang="en-US" sz="1550" b="1" dirty="0">
                <a:solidFill>
                  <a:srgbClr val="FBBF24"/>
                </a:solidFill>
              </a:rPr>
              <a:t>•</a:t>
            </a:r>
            <a:endParaRPr lang="en-US" sz="1550" dirty="0"/>
          </a:p>
        </p:txBody>
      </p:sp>
      <p:sp>
        <p:nvSpPr>
          <p:cNvPr id="17" name="Text 15"/>
          <p:cNvSpPr/>
          <p:nvPr/>
        </p:nvSpPr>
        <p:spPr>
          <a:xfrm>
            <a:off x="5513832" y="3785616"/>
            <a:ext cx="5806440" cy="256032"/>
          </a:xfrm>
          <a:prstGeom prst="rect">
            <a:avLst/>
          </a:prstGeom>
          <a:noFill/>
          <a:ln/>
        </p:spPr>
        <p:txBody>
          <a:bodyPr wrap="square" lIns="0" tIns="0" rIns="0" bIns="0" rtlCol="0" anchor="ctr">
            <a:normAutofit/>
          </a:bodyPr>
          <a:lstStyle/>
          <a:p>
            <a:pPr indent="0" marL="0">
              <a:buNone/>
            </a:pPr>
            <a:r>
              <a:rPr lang="en-US" sz="1550" dirty="0">
                <a:solidFill>
                  <a:srgbClr val="E5E7EB"/>
                </a:solidFill>
              </a:rPr>
              <a:t>Solver feedback is central because it identifies broken logic instead of silently accepting it.</a:t>
            </a:r>
            <a:endParaRPr lang="en-US" sz="1550" dirty="0"/>
          </a:p>
        </p:txBody>
      </p:sp>
      <p:sp>
        <p:nvSpPr>
          <p:cNvPr id="18" name="Text 16"/>
          <p:cNvSpPr/>
          <p:nvPr/>
        </p:nvSpPr>
        <p:spPr>
          <a:xfrm>
            <a:off x="548640" y="6473952"/>
            <a:ext cx="45720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AIEA Lab Internship · Week 5</a:t>
            </a:r>
            <a:endParaRPr lang="en-US" sz="750" dirty="0"/>
          </a:p>
        </p:txBody>
      </p:sp>
      <p:sp>
        <p:nvSpPr>
          <p:cNvPr id="19" name="Text 17"/>
          <p:cNvSpPr/>
          <p:nvPr/>
        </p:nvSpPr>
        <p:spPr>
          <a:xfrm>
            <a:off x="11475720"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94360" y="365760"/>
            <a:ext cx="8595360" cy="438912"/>
          </a:xfrm>
          <a:prstGeom prst="rect">
            <a:avLst/>
          </a:prstGeom>
          <a:noFill/>
          <a:ln/>
        </p:spPr>
        <p:txBody>
          <a:bodyPr wrap="square" lIns="0" tIns="0" rIns="0" bIns="0" rtlCol="0" anchor="ctr"/>
          <a:lstStyle/>
          <a:p>
            <a:pPr indent="0" marL="0">
              <a:buNone/>
            </a:pPr>
            <a:r>
              <a:rPr lang="en-US" sz="3000" b="1" dirty="0">
                <a:solidFill>
                  <a:srgbClr val="E5E7EB"/>
                </a:solidFill>
                <a:latin typeface="Aptos Display" pitchFamily="34" charset="0"/>
                <a:ea typeface="Aptos Display" pitchFamily="34" charset="-122"/>
                <a:cs typeface="Aptos Display" pitchFamily="34" charset="-120"/>
              </a:rPr>
              <a:t>Takeaways and limitations</a:t>
            </a:r>
            <a:endParaRPr lang="en-US" sz="3000" dirty="0"/>
          </a:p>
        </p:txBody>
      </p:sp>
      <p:sp>
        <p:nvSpPr>
          <p:cNvPr id="3" name="Text 1"/>
          <p:cNvSpPr/>
          <p:nvPr/>
        </p:nvSpPr>
        <p:spPr>
          <a:xfrm>
            <a:off x="621792" y="859536"/>
            <a:ext cx="9601200" cy="246888"/>
          </a:xfrm>
          <a:prstGeom prst="rect">
            <a:avLst/>
          </a:prstGeom>
          <a:noFill/>
          <a:ln/>
        </p:spPr>
        <p:txBody>
          <a:bodyPr wrap="square" lIns="0" tIns="0" rIns="0" bIns="0" rtlCol="0" anchor="ctr"/>
          <a:lstStyle/>
          <a:p>
            <a:pPr indent="0" marL="0">
              <a:buNone/>
            </a:pPr>
            <a:r>
              <a:rPr lang="en-US" sz="1350" dirty="0">
                <a:solidFill>
                  <a:srgbClr val="A7B0C0"/>
                </a:solidFill>
                <a:latin typeface="Aptos" pitchFamily="34" charset="0"/>
                <a:ea typeface="Aptos" pitchFamily="34" charset="-122"/>
                <a:cs typeface="Aptos" pitchFamily="34" charset="-120"/>
              </a:rPr>
              <a:t>The project showed where symbolic reasoning helps and where the hard parts remain.</a:t>
            </a:r>
            <a:endParaRPr lang="en-US" sz="1350" dirty="0"/>
          </a:p>
        </p:txBody>
      </p:sp>
      <p:sp>
        <p:nvSpPr>
          <p:cNvPr id="4" name="Shape 2"/>
          <p:cNvSpPr/>
          <p:nvPr/>
        </p:nvSpPr>
        <p:spPr>
          <a:xfrm>
            <a:off x="594360" y="1216152"/>
            <a:ext cx="10972800" cy="0"/>
          </a:xfrm>
          <a:prstGeom prst="line">
            <a:avLst/>
          </a:prstGeom>
          <a:noFill/>
          <a:ln w="12700">
            <a:solidFill>
              <a:srgbClr val="334155"/>
            </a:solidFill>
            <a:prstDash val="solid"/>
          </a:ln>
        </p:spPr>
      </p:sp>
      <p:sp>
        <p:nvSpPr>
          <p:cNvPr id="5" name="Text 3"/>
          <p:cNvSpPr/>
          <p:nvPr/>
        </p:nvSpPr>
        <p:spPr>
          <a:xfrm>
            <a:off x="731520" y="1783080"/>
            <a:ext cx="3749040" cy="1298448"/>
          </a:xfrm>
          <a:prstGeom prst="roundRect">
            <a:avLst/>
          </a:prstGeom>
          <a:solidFill>
            <a:srgbClr val="172033"/>
          </a:solidFill>
          <a:ln w="15240">
            <a:solidFill>
              <a:srgbClr val="34D399"/>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Main takeaway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LLMs and symbolic solvers are complementary: one handles language, the other handles exact inference.</a:t>
            </a:r>
            <a:endParaRPr lang="en-US" sz="1500" dirty="0"/>
          </a:p>
        </p:txBody>
      </p:sp>
      <p:sp>
        <p:nvSpPr>
          <p:cNvPr id="6" name="Text 4"/>
          <p:cNvSpPr/>
          <p:nvPr/>
        </p:nvSpPr>
        <p:spPr>
          <a:xfrm>
            <a:off x="4709160" y="1783080"/>
            <a:ext cx="3246120" cy="1298448"/>
          </a:xfrm>
          <a:prstGeom prst="roundRect">
            <a:avLst/>
          </a:prstGeom>
          <a:solidFill>
            <a:srgbClr val="172033"/>
          </a:solidFill>
          <a:ln w="15240">
            <a:solidFill>
              <a:srgbClr val="FBBF24"/>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Important limitation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My version uses predefined Prolog queries, so it does not fully automate natural-language-to-logic translation.</a:t>
            </a:r>
            <a:endParaRPr lang="en-US" sz="1500" dirty="0"/>
          </a:p>
        </p:txBody>
      </p:sp>
      <p:sp>
        <p:nvSpPr>
          <p:cNvPr id="7" name="Text 5"/>
          <p:cNvSpPr/>
          <p:nvPr/>
        </p:nvSpPr>
        <p:spPr>
          <a:xfrm>
            <a:off x="8183880" y="1783080"/>
            <a:ext cx="3246120" cy="1298448"/>
          </a:xfrm>
          <a:prstGeom prst="roundRect">
            <a:avLst/>
          </a:prstGeom>
          <a:solidFill>
            <a:srgbClr val="172033"/>
          </a:solidFill>
          <a:ln w="15240">
            <a:solidFill>
              <a:srgbClr val="38BDF8"/>
            </a:solidFill>
          </a:ln>
        </p:spPr>
        <p:txBody>
          <a:bodyPr wrap="square" rtlCol="0" anchor="ctr">
            <a:normAutofit/>
          </a:bodyPr>
          <a:lstStyle/>
          <a:p>
            <a:pPr indent="0" marL="0">
              <a:buNone/>
            </a:pPr>
            <a:r>
              <a:rPr lang="en-US" sz="1500" b="1" dirty="0">
                <a:solidFill>
                  <a:srgbClr val="E5E7EB"/>
                </a:solidFill>
                <a:latin typeface="Aptos" pitchFamily="34" charset="0"/>
                <a:ea typeface="Aptos" pitchFamily="34" charset="-122"/>
                <a:cs typeface="Aptos" pitchFamily="34" charset="-120"/>
              </a:rPr>
              <a:t>Future improvement
</a:t>
            </a:r>
            <a:endParaRPr lang="en-US" sz="1500" dirty="0"/>
          </a:p>
          <a:p>
            <a:pPr indent="0" marL="0">
              <a:buNone/>
            </a:pPr>
            <a:r>
              <a:rPr lang="en-US" sz="1500" dirty="0">
                <a:solidFill>
                  <a:srgbClr val="A7B0C0"/>
                </a:solidFill>
                <a:latin typeface="Aptos" pitchFamily="34" charset="0"/>
                <a:ea typeface="Aptos" pitchFamily="34" charset="-122"/>
                <a:cs typeface="Aptos" pitchFamily="34" charset="-120"/>
              </a:rPr>
              <a:t>Add an LLM step that proposes Prolog queries, then use solver feedback to refine them.</a:t>
            </a:r>
            <a:endParaRPr lang="en-US" sz="1500" dirty="0"/>
          </a:p>
        </p:txBody>
      </p:sp>
      <p:sp>
        <p:nvSpPr>
          <p:cNvPr id="8" name="Text 6"/>
          <p:cNvSpPr/>
          <p:nvPr/>
        </p:nvSpPr>
        <p:spPr>
          <a:xfrm>
            <a:off x="758952" y="4343400"/>
            <a:ext cx="3657600" cy="310896"/>
          </a:xfrm>
          <a:prstGeom prst="rect">
            <a:avLst/>
          </a:prstGeom>
          <a:noFill/>
          <a:ln/>
        </p:spPr>
        <p:txBody>
          <a:bodyPr wrap="square" lIns="0" tIns="0" rIns="0" bIns="0" rtlCol="0" anchor="ctr"/>
          <a:lstStyle/>
          <a:p>
            <a:pPr indent="0" marL="0">
              <a:buNone/>
            </a:pPr>
            <a:r>
              <a:rPr lang="en-US" sz="1600" b="1" dirty="0">
                <a:solidFill>
                  <a:srgbClr val="A78BFA"/>
                </a:solidFill>
              </a:rPr>
              <a:t>One-sentence summary</a:t>
            </a:r>
            <a:endParaRPr lang="en-US" sz="1600" dirty="0"/>
          </a:p>
        </p:txBody>
      </p:sp>
      <p:sp>
        <p:nvSpPr>
          <p:cNvPr id="9" name="Text 7"/>
          <p:cNvSpPr/>
          <p:nvPr/>
        </p:nvSpPr>
        <p:spPr>
          <a:xfrm>
            <a:off x="758952" y="4773168"/>
            <a:ext cx="10607040" cy="685800"/>
          </a:xfrm>
          <a:prstGeom prst="rect">
            <a:avLst/>
          </a:prstGeom>
          <a:noFill/>
          <a:ln/>
        </p:spPr>
        <p:txBody>
          <a:bodyPr wrap="square" lIns="0" tIns="0" rIns="0" bIns="0" rtlCol="0" anchor="ctr">
            <a:normAutofit/>
          </a:bodyPr>
          <a:lstStyle/>
          <a:p>
            <a:pPr indent="0" marL="0">
              <a:buNone/>
            </a:pPr>
            <a:r>
              <a:rPr lang="en-US" sz="2100" b="1" dirty="0">
                <a:solidFill>
                  <a:srgbClr val="E5E7EB"/>
                </a:solidFill>
              </a:rPr>
              <a:t>This week, I reimplemented the core idea of Logic-LM at a smaller scale by connecting Python to SWI-Prolog, testing logical rules from my knowledge base, and recording how the symbolic solver produced reliable results or useful error feedback.</a:t>
            </a:r>
            <a:endParaRPr lang="en-US" sz="2100" dirty="0"/>
          </a:p>
        </p:txBody>
      </p:sp>
      <p:sp>
        <p:nvSpPr>
          <p:cNvPr id="10" name="Text 8"/>
          <p:cNvSpPr/>
          <p:nvPr/>
        </p:nvSpPr>
        <p:spPr>
          <a:xfrm>
            <a:off x="548640" y="6473952"/>
            <a:ext cx="45720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AIEA Lab Internship · Week 5</a:t>
            </a:r>
            <a:endParaRPr lang="en-US" sz="750" dirty="0"/>
          </a:p>
        </p:txBody>
      </p:sp>
      <p:sp>
        <p:nvSpPr>
          <p:cNvPr id="11" name="Text 9"/>
          <p:cNvSpPr/>
          <p:nvPr/>
        </p:nvSpPr>
        <p:spPr>
          <a:xfrm>
            <a:off x="11475720" y="6446520"/>
            <a:ext cx="22860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AIEA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Understanding Logical Reasoning</dc:title>
  <dc:subject>Week 5 Logic-LM-style symbolic reasoning pipeline</dc:subject>
  <dc:creator>Irfan Shaik</dc:creator>
  <cp:lastModifiedBy>Irfan Shaik</cp:lastModifiedBy>
  <cp:revision>1</cp:revision>
  <dcterms:created xsi:type="dcterms:W3CDTF">2026-07-17T21:35:43Z</dcterms:created>
  <dcterms:modified xsi:type="dcterms:W3CDTF">2026-07-17T21:35:43Z</dcterms:modified>
</cp:coreProperties>
</file>